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B6226A-5C96-470E-8342-1A3BF6C5AD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3BFC6A-180E-4201-BEA0-D7E4695C28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63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7C056F-2456-499F-B513-DCA2C1AFE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Clique Partition Problem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3D110F-5FE1-497C-BB28-D611CCD71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9720071" cy="1143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2800" dirty="0"/>
              <a:t>Это задача в теории графов и оптимизации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/>
              <a:t>NP – </a:t>
            </a:r>
            <a:r>
              <a:rPr lang="ru-RU" sz="2800" dirty="0"/>
              <a:t>трудная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0EEBC1-F71B-40C4-A670-5929BB1577F3}"/>
                  </a:ext>
                </a:extLst>
              </p:cNvPr>
              <p:cNvSpPr txBox="1"/>
              <p:nvPr/>
            </p:nvSpPr>
            <p:spPr>
              <a:xfrm>
                <a:off x="73240" y="3974522"/>
                <a:ext cx="60945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20EEBC1-F71B-40C4-A670-5929BB157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0" y="3974522"/>
                <a:ext cx="6094520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FA3060-8F5D-4F9A-81FC-4F3384FF8606}"/>
                  </a:ext>
                </a:extLst>
              </p:cNvPr>
              <p:cNvSpPr txBox="1"/>
              <p:nvPr/>
            </p:nvSpPr>
            <p:spPr>
              <a:xfrm>
                <a:off x="74720" y="4468077"/>
                <a:ext cx="60945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ru-RU" sz="32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sz="32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sz="32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  <m:e>
                          <m:sSub>
                            <m:sSubPr>
                              <m:ctrlPr>
                                <a:rPr lang="ru-RU" sz="32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FA3060-8F5D-4F9A-81FC-4F3384FF8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20" y="4468077"/>
                <a:ext cx="609452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03B263-A66F-4382-843C-0CEB3228E556}"/>
                  </a:ext>
                </a:extLst>
              </p:cNvPr>
              <p:cNvSpPr txBox="1"/>
              <p:nvPr/>
            </p:nvSpPr>
            <p:spPr>
              <a:xfrm>
                <a:off x="73240" y="5052852"/>
                <a:ext cx="60945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ru-RU" sz="3200" i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ru-RU" sz="32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03B263-A66F-4382-843C-0CEB3228E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0" y="5052852"/>
                <a:ext cx="609452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DC07427-0378-4D46-B012-677876EDC34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48678" y="1061318"/>
            <a:ext cx="6496957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928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18C421-842E-4E58-8228-D7E2473DFD80}"/>
                  </a:ext>
                </a:extLst>
              </p:cNvPr>
              <p:cNvSpPr txBox="1"/>
              <p:nvPr/>
            </p:nvSpPr>
            <p:spPr>
              <a:xfrm>
                <a:off x="1814374" y="2766142"/>
                <a:ext cx="856325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  <m:r>
                        <a:rPr lang="ru-RU" sz="3200" i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ru-RU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ru-RU" sz="3200" b="0" i="1" smtClean="0">
                          <a:latin typeface="Cambria Math" panose="02040503050406030204" pitchFamily="18" charset="0"/>
                        </a:rPr>
                        <m:t>−назначение в клику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18C421-842E-4E58-8228-D7E2473DF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374" y="2766142"/>
                <a:ext cx="856325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950CA6-0A1C-4C01-9B98-8F0805B455D1}"/>
                  </a:ext>
                </a:extLst>
              </p:cNvPr>
              <p:cNvSpPr txBox="1"/>
              <p:nvPr/>
            </p:nvSpPr>
            <p:spPr>
              <a:xfrm>
                <a:off x="1814374" y="3725629"/>
                <a:ext cx="856325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3200" b="0" i="1" smtClean="0">
                              <a:latin typeface="Cambria Math" panose="02040503050406030204" pitchFamily="18" charset="0"/>
                            </a:rPr>
                            <m:t>?</m:t>
                          </m:r>
                        </m:sub>
                      </m:sSub>
                      <m:r>
                        <a:rPr lang="ru-RU" sz="3200" i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ru-RU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ru-RU" sz="3200" b="0" i="1" smtClean="0">
                          <a:latin typeface="Cambria Math" panose="02040503050406030204" pitchFamily="18" charset="0"/>
                        </a:rPr>
                        <m:t>−используется ли клика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950CA6-0A1C-4C01-9B98-8F0805B45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374" y="3725629"/>
                <a:ext cx="856325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BDA1684-BA58-4437-A7CC-5233C130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dirty="0"/>
              <a:t>Бинарные переменные</a:t>
            </a:r>
          </a:p>
        </p:txBody>
      </p:sp>
    </p:spTree>
    <p:extLst>
      <p:ext uri="{BB962C8B-B14F-4D97-AF65-F5344CB8AC3E}">
        <p14:creationId xmlns:p14="http://schemas.microsoft.com/office/powerpoint/2010/main" val="3667397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18C421-842E-4E58-8228-D7E2473DFD80}"/>
                  </a:ext>
                </a:extLst>
              </p:cNvPr>
              <p:cNvSpPr txBox="1"/>
              <p:nvPr/>
            </p:nvSpPr>
            <p:spPr>
              <a:xfrm>
                <a:off x="1814374" y="1976030"/>
                <a:ext cx="8563252" cy="11563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ru-RU" sz="3200" i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ru-RU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, где </m:t>
                      </m:r>
                      <m:sSub>
                        <m:sSubPr>
                          <m:ctrlPr>
                            <a:rPr lang="ru-RU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ru-RU" sz="3200" i="0">
                          <a:latin typeface="Cambria Math" panose="02040503050406030204" pitchFamily="18" charset="0"/>
                        </a:rPr>
                        <m:t>=1,  если вершина </m:t>
                      </m:r>
                      <m:sSub>
                        <m:sSubPr>
                          <m:ctrlPr>
                            <a:rPr lang="ru-RU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ru-RU" sz="3200" i="0">
                          <a:latin typeface="Cambria Math" panose="02040503050406030204" pitchFamily="18" charset="0"/>
                        </a:rPr>
                        <m:t> назначена в клику 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3200" i="0">
                          <a:latin typeface="Cambria Math" panose="02040503050406030204" pitchFamily="18" charset="0"/>
                        </a:rPr>
                        <m:t>, иначе 0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18C421-842E-4E58-8228-D7E2473DF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374" y="1976030"/>
                <a:ext cx="8563252" cy="11563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950CA6-0A1C-4C01-9B98-8F0805B455D1}"/>
                  </a:ext>
                </a:extLst>
              </p:cNvPr>
              <p:cNvSpPr txBox="1"/>
              <p:nvPr/>
            </p:nvSpPr>
            <p:spPr>
              <a:xfrm>
                <a:off x="1814374" y="3725629"/>
                <a:ext cx="8563252" cy="1065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3200" i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ru-RU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, где </m:t>
                      </m:r>
                      <m:sSub>
                        <m:sSubPr>
                          <m:ctrlPr>
                            <a:rPr lang="ru-RU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3200" i="0">
                          <a:latin typeface="Cambria Math" panose="02040503050406030204" pitchFamily="18" charset="0"/>
                        </a:rPr>
                        <m:t>=1,  если клика 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3200" i="0">
                          <a:latin typeface="Cambria Math" panose="02040503050406030204" pitchFamily="18" charset="0"/>
                        </a:rPr>
                        <m:t> используется в разбиении, иначе 0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F950CA6-0A1C-4C01-9B98-8F0805B455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4374" y="3725629"/>
                <a:ext cx="8563252" cy="1065869"/>
              </a:xfrm>
              <a:prstGeom prst="rect">
                <a:avLst/>
              </a:prstGeom>
              <a:blipFill>
                <a:blip r:embed="rId3"/>
                <a:stretch>
                  <a:fillRect r="-34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BBDA1684-BA58-4437-A7CC-5233C130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dirty="0"/>
              <a:t>Бинарные переменные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696A69-90B8-446A-B240-4121C39A0BC5}"/>
                  </a:ext>
                </a:extLst>
              </p:cNvPr>
              <p:cNvSpPr txBox="1"/>
              <p:nvPr/>
            </p:nvSpPr>
            <p:spPr>
              <a:xfrm>
                <a:off x="3048740" y="5384755"/>
                <a:ext cx="609452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ru-RU" sz="3200" i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ru-RU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ru-RU" sz="32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sz="3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ru-RU" sz="3200" i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ru-RU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32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ru-RU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696A69-90B8-446A-B240-4121C39A0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40" y="5384755"/>
                <a:ext cx="609452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47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0BD989-79BB-40E9-9E02-6745C8C0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Целевая функция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EF8D0B-2A84-4FB1-9391-1B2AEE9AA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3200" dirty="0"/>
              <a:t>Минимизировать общее количество используемых клик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B0D761-E32B-4A4E-88B8-DD89500CB897}"/>
                  </a:ext>
                </a:extLst>
              </p:cNvPr>
              <p:cNvSpPr txBox="1"/>
              <p:nvPr/>
            </p:nvSpPr>
            <p:spPr>
              <a:xfrm>
                <a:off x="3048740" y="3237838"/>
                <a:ext cx="6094520" cy="10598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320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ru-RU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3200" i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ru-RU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32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u-RU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ru-R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9B0D761-E32B-4A4E-88B8-DD89500CB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740" y="3237838"/>
                <a:ext cx="6094520" cy="10598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5395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3F5A4C-3256-4D02-A3B9-FED269517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7DE88B16-0CB4-4950-94FC-FD5DB2D6B9B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29719541"/>
                  </p:ext>
                </p:extLst>
              </p:nvPr>
            </p:nvGraphicFramePr>
            <p:xfrm>
              <a:off x="615637" y="2084832"/>
              <a:ext cx="11422484" cy="537021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0611239">
                      <a:extLst>
                        <a:ext uri="{9D8B030D-6E8A-4147-A177-3AD203B41FA5}">
                          <a16:colId xmlns:a16="http://schemas.microsoft.com/office/drawing/2014/main" val="3249075440"/>
                        </a:ext>
                      </a:extLst>
                    </a:gridCol>
                    <a:gridCol w="811245">
                      <a:extLst>
                        <a:ext uri="{9D8B030D-6E8A-4147-A177-3AD203B41FA5}">
                          <a16:colId xmlns:a16="http://schemas.microsoft.com/office/drawing/2014/main" val="1829283060"/>
                        </a:ext>
                      </a:extLst>
                    </a:gridCol>
                  </a:tblGrid>
                  <a:tr h="94360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ru-RU" sz="280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ru-RU" sz="2800" i="1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80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80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  <m:r>
                                  <m:rPr>
                                    <m:nor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</a:rPr>
                                  <m:t> для всех </m:t>
                                </m:r>
                                <m:r>
                                  <a:rPr lang="en-US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=1,2,…,</m:t>
                                </m:r>
                                <m:r>
                                  <a:rPr lang="en-US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(1)</a:t>
                          </a:r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41252514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ru-RU" sz="2800" i="1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</a:rPr>
                                  <m:t> для всех 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=1,2,…,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nor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</a:rPr>
                                  <m:t> и 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=1,2,…,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(2)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023028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𝑖𝑢</m:t>
                                    </m:r>
                                  </m:sub>
                                </m:sSub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2800" i="1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𝑖𝑣</m:t>
                                    </m:r>
                                  </m:sub>
                                </m:sSub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≤1</m:t>
                                </m:r>
                                <m:r>
                                  <m:rPr>
                                    <m:nor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</a:rPr>
                                  <m:t> для всех 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=1,2,…,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nor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</a:rPr>
                                  <m:t> и для всех </m:t>
                                </m:r>
                                <m:d>
                                  <m:dPr>
                                    <m:ctrlPr>
                                      <a:rPr lang="ru-RU" sz="2800" i="1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∉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</a:rPr>
                                  <m:t> где 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(3)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51539325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lit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  <m:r>
                                  <m:rPr>
                                    <m:lit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  <m:r>
                                  <m:rPr>
                                    <m:nor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</a:rPr>
                                  <m:t> для всех 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(4)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3730043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u-RU" sz="280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lit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  <m:r>
                                  <m:rPr>
                                    <m:lit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  <m:r>
                                  <m:rPr>
                                    <m:nor/>
                                  </m:rP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</a:rPr>
                                  <m:t> для всех </m:t>
                                </m:r>
                                <m:r>
                                  <a:rPr lang="ru-RU" sz="280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(5)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00897920"/>
                      </a:ext>
                    </a:extLst>
                  </a:tr>
                  <a:tr h="29041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573539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7DE88B16-0CB4-4950-94FC-FD5DB2D6B9B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29719541"/>
                  </p:ext>
                </p:extLst>
              </p:nvPr>
            </p:nvGraphicFramePr>
            <p:xfrm>
              <a:off x="615637" y="2084832"/>
              <a:ext cx="11422484" cy="5370219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0611239">
                      <a:extLst>
                        <a:ext uri="{9D8B030D-6E8A-4147-A177-3AD203B41FA5}">
                          <a16:colId xmlns:a16="http://schemas.microsoft.com/office/drawing/2014/main" val="3249075440"/>
                        </a:ext>
                      </a:extLst>
                    </a:gridCol>
                    <a:gridCol w="811245">
                      <a:extLst>
                        <a:ext uri="{9D8B030D-6E8A-4147-A177-3AD203B41FA5}">
                          <a16:colId xmlns:a16="http://schemas.microsoft.com/office/drawing/2014/main" val="1829283060"/>
                        </a:ext>
                      </a:extLst>
                    </a:gridCol>
                  </a:tblGrid>
                  <a:tr h="134797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145" r="-7635" b="-298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(1)</a:t>
                          </a:r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41252514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62585" r="-7635" b="-34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(2)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023028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62585" r="-7635" b="-24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(3)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51539325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62585" r="-7635" b="-14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(4)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3730043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62585" r="-7635" b="-4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(5)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00897920"/>
                      </a:ext>
                    </a:extLst>
                  </a:tr>
                  <a:tr h="43630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2573539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8419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36A1E-BC0C-4A21-9F67-F2781A86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F287C7-B917-4D2F-A429-88E1C657D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161" y="2084832"/>
            <a:ext cx="10383678" cy="4381130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arenBoth"/>
            </a:pPr>
            <a:r>
              <a:rPr lang="ru-RU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Каждая вершина назначена ровно одной клике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Both"/>
            </a:pPr>
            <a:r>
              <a:rPr lang="ru-RU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Если вершина назначена в клику, то клика должна использоваться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Both"/>
            </a:pPr>
            <a:r>
              <a:rPr lang="ru-RU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Несмежные вершины не могут находиться в одной клике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Both"/>
            </a:pPr>
            <a:r>
              <a:rPr lang="ru-RU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Естественное ограничение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arenBoth"/>
            </a:pPr>
            <a:r>
              <a:rPr lang="ru-RU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Естественное ограничение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389069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D0D93E-7181-446E-9B5F-03FAC0206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Coloring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0C6A0E-1BF0-46DC-A0CD-799A329C1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u-RU" sz="2800" dirty="0"/>
              <a:t>CPP в графе G эквивалентна раскраске дополнения графа Ḡ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800" dirty="0"/>
              <a:t>Вершины одного цвета в графе G гарантировано </a:t>
            </a:r>
            <a:r>
              <a:rPr lang="ru-RU" sz="2800" dirty="0" err="1"/>
              <a:t>смежны</a:t>
            </a:r>
            <a:r>
              <a:rPr lang="ru-RU" sz="2800" dirty="0"/>
              <a:t> в графе дополнении G, следовательно им соответствует одна клика (так как вершины одного цвета в G не соединены рёбрами).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sz="2800" dirty="0"/>
              <a:t>Решая задачу о раскраске графа на минимизацию числа цветов, мы одновременно минимизируем количество клик в исходном графе. (</a:t>
            </a:r>
            <a:r>
              <a:rPr lang="ru-RU" sz="2800" dirty="0" err="1"/>
              <a:t>Graph</a:t>
            </a:r>
            <a:r>
              <a:rPr lang="ru-RU" sz="2800" dirty="0"/>
              <a:t> </a:t>
            </a:r>
            <a:r>
              <a:rPr lang="ru-RU" sz="2800" dirty="0" err="1"/>
              <a:t>Coloring</a:t>
            </a:r>
            <a:r>
              <a:rPr lang="ru-RU" sz="2800" dirty="0"/>
              <a:t> </a:t>
            </a:r>
            <a:r>
              <a:rPr lang="ru-RU" sz="2800" dirty="0" err="1"/>
              <a:t>Problem</a:t>
            </a:r>
            <a:r>
              <a:rPr lang="ru-RU" sz="2800" dirty="0"/>
              <a:t> → </a:t>
            </a:r>
            <a:r>
              <a:rPr lang="ru-RU" sz="2800" dirty="0" err="1"/>
              <a:t>Clique</a:t>
            </a:r>
            <a:r>
              <a:rPr lang="ru-RU" sz="2800" dirty="0"/>
              <a:t> </a:t>
            </a:r>
            <a:r>
              <a:rPr lang="ru-RU" sz="2800" dirty="0" err="1"/>
              <a:t>Partition</a:t>
            </a:r>
            <a:r>
              <a:rPr lang="ru-RU" sz="2800" dirty="0"/>
              <a:t> </a:t>
            </a:r>
            <a:r>
              <a:rPr lang="ru-RU" sz="2800" dirty="0" err="1"/>
              <a:t>Problem</a:t>
            </a:r>
            <a:r>
              <a:rPr lang="ru-RU" sz="2800" dirty="0"/>
              <a:t>)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19755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4821E2-3AC6-46B5-829E-6CB243900E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61841" y="1718887"/>
            <a:ext cx="5534159" cy="34202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7A69F8-A0B7-4C07-AF7D-A3AFCD53EC2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0" y="1718888"/>
            <a:ext cx="5534159" cy="342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20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B657E-A0C2-4453-A131-EEB18F1E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Бинарные переменные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35EE59-3144-48A5-A955-10D016F41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910" y="2657797"/>
                <a:ext cx="11816179" cy="402336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 smtClean="0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𝑤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∈{0,1},</m:t>
                    </m:r>
                    <m:box>
                      <m:box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oxPr>
                      <m:e>
                        <m: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box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∈{1,</m:t>
                    </m:r>
                    <m:r>
                      <m:rPr>
                        <m:nor/>
                      </m:rPr>
                      <a: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…,</m:t>
                    </m:r>
                    <m:r>
                      <m:rPr>
                        <m:nor/>
                      </m:rPr>
                      <a: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rPr>
                      <m:t> </m:t>
                    </m:r>
                    <m:r>
                      <a:rPr lang="en-US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r>
                  <a:rPr lang="ru-RU" sz="3200" dirty="0"/>
                  <a:t> – задействован ли </a:t>
                </a:r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u-RU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3200" dirty="0"/>
                  <a:t>-</a:t>
                </a:r>
                <a:r>
                  <a:rPr lang="ru-RU" sz="3200" dirty="0" err="1"/>
                  <a:t>ый</a:t>
                </a:r>
                <a:r>
                  <a:rPr lang="ru-RU" sz="3200" dirty="0"/>
                  <a:t> цвет для раскраски, т.е. покрашена ли хотя бы 1 вершина в цвет </a:t>
                </a:r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32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200" i="1" smtClean="0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𝑣</m:t>
                        </m:r>
                        <m: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,</m:t>
                        </m:r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0,1</m:t>
                        </m:r>
                      </m:e>
                    </m:d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box>
                      <m:boxPr>
                        <m:ctrlPr>
                          <a:rPr lang="ru-RU" sz="3200" i="1">
                            <a:effectLst/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boxPr>
                      <m:e>
                        <m: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box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∀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m:rPr>
                        <m:nor/>
                      </m:rPr>
                      <a:rPr lang="ru-RU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rPr>
                      <m:t>  </m:t>
                    </m:r>
                    <m:r>
                      <a:rPr lang="ru-RU" sz="2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ru-RU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1,…,</m:t>
                        </m:r>
                        <m:r>
                          <a:rPr lang="ru-RU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</m:d>
                    <m:r>
                      <a:rPr lang="ru-RU" sz="2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ru-RU" sz="3200" dirty="0"/>
                  <a:t>– покрашена ли вершина </a:t>
                </a:r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ru-RU" sz="3200" dirty="0"/>
                  <a:t> в цвет </a:t>
                </a:r>
                <a14:m>
                  <m:oMath xmlns:m="http://schemas.openxmlformats.org/officeDocument/2006/math">
                    <m:r>
                      <a:rPr lang="ru-RU" sz="32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sz="3200" dirty="0"/>
                  <a:t> </a:t>
                </a:r>
              </a:p>
              <a:p>
                <a:endParaRPr lang="ru-RU" sz="3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35EE59-3144-48A5-A955-10D016F41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910" y="2657797"/>
                <a:ext cx="11816179" cy="4023360"/>
              </a:xfrm>
              <a:blipFill>
                <a:blip r:embed="rId2"/>
                <a:stretch>
                  <a:fillRect l="-929" t="-3030" r="-16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550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68BC4D0-57F1-4435-B8F6-85EC45FEE9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ru-RU" sz="3200" dirty="0"/>
                  <a:t>Минимизирует число задействованных для раскраски графа цветов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ru-RU" sz="2400" i="1" smtClean="0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ru-RU" sz="18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ru-RU" sz="18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{1,</m:t>
                          </m:r>
                          <m:r>
                            <m:rPr>
                              <m:nor/>
                            </m:rPr>
                            <a:rPr lang="ru-RU" sz="18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…,</m:t>
                          </m:r>
                          <m:r>
                            <m:rPr>
                              <m:nor/>
                            </m:rPr>
                            <a:rPr lang="ru-RU" sz="180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</a:rPr>
                            <m:t> 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𝑘</m:t>
                          </m:r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}</m:t>
                          </m:r>
                        </m:sub>
                        <m:sup/>
                        <m:e>
                          <m:r>
                            <a:rPr lang="ru-RU" sz="180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 </m:t>
                          </m:r>
                        </m:e>
                      </m:nary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 </m:t>
                      </m:r>
                      <m:sSub>
                        <m:sSubPr>
                          <m:ctrlPr>
                            <a:rPr lang="ru-RU" sz="2400" i="1">
                              <a:effectLst/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𝑤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ru-RU" sz="180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m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𝑖𝑛</m:t>
                      </m:r>
                    </m:oMath>
                  </m:oMathPara>
                </a14:m>
                <a:endParaRPr lang="ru-RU" sz="32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68BC4D0-57F1-4435-B8F6-85EC45FEE9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82" t="-3182" r="-27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376B089-F359-4E88-9655-4DEE9DF7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ru-RU" dirty="0"/>
              <a:t>Целевая функция</a:t>
            </a:r>
          </a:p>
        </p:txBody>
      </p:sp>
    </p:spTree>
    <p:extLst>
      <p:ext uri="{BB962C8B-B14F-4D97-AF65-F5344CB8AC3E}">
        <p14:creationId xmlns:p14="http://schemas.microsoft.com/office/powerpoint/2010/main" val="816461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CB13B7-7CD2-441A-BCB4-AF4494E2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DB706396-1336-4C60-9171-E0921FCF1DD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19623420"/>
                  </p:ext>
                </p:extLst>
              </p:nvPr>
            </p:nvGraphicFramePr>
            <p:xfrm>
              <a:off x="615637" y="2084832"/>
              <a:ext cx="11422484" cy="395868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0611239">
                      <a:extLst>
                        <a:ext uri="{9D8B030D-6E8A-4147-A177-3AD203B41FA5}">
                          <a16:colId xmlns:a16="http://schemas.microsoft.com/office/drawing/2014/main" val="3249075440"/>
                        </a:ext>
                      </a:extLst>
                    </a:gridCol>
                    <a:gridCol w="811245">
                      <a:extLst>
                        <a:ext uri="{9D8B030D-6E8A-4147-A177-3AD203B41FA5}">
                          <a16:colId xmlns:a16="http://schemas.microsoft.com/office/drawing/2014/main" val="1829283060"/>
                        </a:ext>
                      </a:extLst>
                    </a:gridCol>
                  </a:tblGrid>
                  <a:tr h="94360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limLoc m:val="undOvr"/>
                                    <m:grow m:val="on"/>
                                    <m:supHide m:val="on"/>
                                    <m:ctrlPr>
                                      <a:rPr lang="ru-RU" sz="2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∈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{1,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…,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lang="en-US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}</m:t>
                                    </m:r>
                                  </m:sub>
                                  <m:sup/>
                                  <m:e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 </m:t>
                                    </m:r>
                                  </m:e>
                                </m:nary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 </m:t>
                                </m:r>
                                <m:sSub>
                                  <m:sSubPr>
                                    <m:ctrlP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=1,</m:t>
                                </m:r>
                                <m:box>
                                  <m:boxPr>
                                    <m:ctrlP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boxPr>
                                  <m:e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box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∀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𝑣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∈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𝑉</m:t>
                                </m:r>
                              </m:oMath>
                            </m:oMathPara>
                          </a14:m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(1)</a:t>
                          </a:r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41252514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𝑢</m:t>
                                    </m:r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box>
                                  <m:boxPr>
                                    <m:ctrlP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boxPr>
                                  <m:e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box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∀(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𝑢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𝑣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)∈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𝐸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 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∈{1,</m:t>
                                </m:r>
                                <m:r>
                                  <m:rPr>
                                    <m:nor/>
                                  </m:rP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(2)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023028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𝑣</m:t>
                                    </m:r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∈{0,1},</m:t>
                                </m:r>
                                <m:box>
                                  <m:boxPr>
                                    <m:ctrlP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boxPr>
                                  <m:e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box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∀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𝑣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∈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𝑉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 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∈{1,…,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(3)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51539325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2800" i="1" kern="12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∈{0,1},</m:t>
                                </m:r>
                                <m:box>
                                  <m:boxPr>
                                    <m:ctrlPr>
                                      <a:rPr lang="ru-RU" sz="2800" i="1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boxPr>
                                  <m:e>
                                    <m:r>
                                      <a:rPr lang="ru-RU" sz="2800" kern="12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</m:e>
                                </m:box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∈{1,</m:t>
                                </m:r>
                                <m:r>
                                  <m:rPr>
                                    <m:nor/>
                                  </m:rP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…,</m:t>
                                </m:r>
                                <m:r>
                                  <m:rPr>
                                    <m:nor/>
                                  </m:rP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ru-RU" sz="2800" i="1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𝑘</m:t>
                                </m:r>
                                <m:r>
                                  <a:rPr lang="ru-RU" sz="2800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(4)</a:t>
                          </a:r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373004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DB706396-1336-4C60-9171-E0921FCF1DD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019623420"/>
                  </p:ext>
                </p:extLst>
              </p:nvPr>
            </p:nvGraphicFramePr>
            <p:xfrm>
              <a:off x="615637" y="2084832"/>
              <a:ext cx="11422484" cy="395868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0611239">
                      <a:extLst>
                        <a:ext uri="{9D8B030D-6E8A-4147-A177-3AD203B41FA5}">
                          <a16:colId xmlns:a16="http://schemas.microsoft.com/office/drawing/2014/main" val="3249075440"/>
                        </a:ext>
                      </a:extLst>
                    </a:gridCol>
                    <a:gridCol w="811245">
                      <a:extLst>
                        <a:ext uri="{9D8B030D-6E8A-4147-A177-3AD203B41FA5}">
                          <a16:colId xmlns:a16="http://schemas.microsoft.com/office/drawing/2014/main" val="1829283060"/>
                        </a:ext>
                      </a:extLst>
                    </a:gridCol>
                  </a:tblGrid>
                  <a:tr h="126923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173" r="-7635" b="-2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(1)</a:t>
                          </a:r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941252514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52027" r="-7635" b="-1986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(2)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3023028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53741" r="-7635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(3)</a:t>
                          </a:r>
                          <a:endParaRPr lang="ru-RU" sz="280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151539325"/>
                      </a:ext>
                    </a:extLst>
                  </a:tr>
                  <a:tr h="896483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53741" r="-76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28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</a:rPr>
                            <a:t>(4)</a:t>
                          </a:r>
                          <a:endParaRPr lang="ru-RU" sz="28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337300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78000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36A1E-BC0C-4A21-9F67-F2781A86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F287C7-B917-4D2F-A429-88E1C657D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161" y="2084832"/>
            <a:ext cx="10383678" cy="438113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+mj-lt"/>
              <a:buAutoNum type="arabicParenBoth"/>
            </a:pPr>
            <a:r>
              <a:rPr lang="ru-RU" sz="3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аждая вершина v может быть покрашена только в один цвет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Both"/>
            </a:pPr>
            <a:r>
              <a:rPr lang="ru-RU" sz="3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</a:t>
            </a:r>
            <a:r>
              <a:rPr lang="ru-RU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апрещает смежным вершинам быть покрашенными в один цвет </a:t>
            </a:r>
          </a:p>
          <a:p>
            <a:pPr marL="342900" lvl="0" indent="-342900">
              <a:lnSpc>
                <a:spcPct val="107000"/>
              </a:lnSpc>
              <a:buFont typeface="+mj-lt"/>
              <a:buAutoNum type="arabicParenBoth"/>
            </a:pPr>
            <a:r>
              <a:rPr lang="ru-RU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Естественное ограничение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arenBoth"/>
            </a:pPr>
            <a:r>
              <a:rPr lang="ru-RU" sz="32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Естественное ограничение</a:t>
            </a:r>
            <a:endParaRPr lang="ru-RU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3458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нтеграл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35</TotalTime>
  <Words>454</Words>
  <Application>Microsoft Office PowerPoint</Application>
  <PresentationFormat>Широкоэкранный</PresentationFormat>
  <Paragraphs>60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Calibri</vt:lpstr>
      <vt:lpstr>Cambria Math</vt:lpstr>
      <vt:lpstr>Tw Cen MT</vt:lpstr>
      <vt:lpstr>Tw Cen MT Condensed</vt:lpstr>
      <vt:lpstr>Wingdings</vt:lpstr>
      <vt:lpstr>Wingdings 3</vt:lpstr>
      <vt:lpstr>Интеграл</vt:lpstr>
      <vt:lpstr>Заголовок</vt:lpstr>
      <vt:lpstr>Clique Partition Problem </vt:lpstr>
      <vt:lpstr>Бинарные переменные</vt:lpstr>
      <vt:lpstr>Бинарные переменные</vt:lpstr>
      <vt:lpstr>Целевая функция</vt:lpstr>
      <vt:lpstr>Ограничения</vt:lpstr>
      <vt:lpstr>Ограничения</vt:lpstr>
      <vt:lpstr>Graph Coloring </vt:lpstr>
      <vt:lpstr>Презентация PowerPoint</vt:lpstr>
      <vt:lpstr>Бинарные переменные</vt:lpstr>
      <vt:lpstr>Целевая функция</vt:lpstr>
      <vt:lpstr>ограничения</vt:lpstr>
      <vt:lpstr>Ограничения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</dc:title>
  <dc:creator>Герман</dc:creator>
  <cp:lastModifiedBy>Герман</cp:lastModifiedBy>
  <cp:revision>13</cp:revision>
  <dcterms:created xsi:type="dcterms:W3CDTF">2025-11-21T11:51:29Z</dcterms:created>
  <dcterms:modified xsi:type="dcterms:W3CDTF">2025-11-21T12:28:13Z</dcterms:modified>
</cp:coreProperties>
</file>